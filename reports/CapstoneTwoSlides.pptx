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Maven Pro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MavenPro-regular.fnt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aven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f43da51f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f43da51f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f43da51ff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f43da51ff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f43da51ff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f43da51ff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f43da51ff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f43da51ff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f43da51ff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cf43da51ff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f43da51ff_0_1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f43da51ff_0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f43da51ff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f43da51ff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f43da51ff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cf43da51ff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f43da51ff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f43da51ff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f43da51ff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f43da51ff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Loan Eligibility Prediction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James Fuerte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Problem</a:t>
            </a:r>
            <a:endParaRPr sz="2400"/>
          </a:p>
        </p:txBody>
      </p:sp>
      <p:sp>
        <p:nvSpPr>
          <p:cNvPr id="284" name="Google Shape;284;p14"/>
          <p:cNvSpPr txBox="1"/>
          <p:nvPr>
            <p:ph idx="4294967295" type="title"/>
          </p:nvPr>
        </p:nvSpPr>
        <p:spPr>
          <a:xfrm>
            <a:off x="535775" y="1480150"/>
            <a:ext cx="5330700" cy="15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2020">
                <a:latin typeface="Lato"/>
                <a:ea typeface="Lato"/>
                <a:cs typeface="Lato"/>
                <a:sym typeface="Lato"/>
              </a:rPr>
              <a:t>As financial institutions receive a large volume of loan applications daily, a challenge to to evaluate each applicant quickly while maintaining accuracy and fairness exists</a:t>
            </a:r>
            <a:endParaRPr b="0" sz="202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990"/>
              <a:buNone/>
            </a:pPr>
            <a:r>
              <a:t/>
            </a:r>
            <a:endParaRPr b="0" sz="20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3705025" y="3178300"/>
            <a:ext cx="4912200" cy="972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50">
                <a:solidFill>
                  <a:srgbClr val="564B36"/>
                </a:solidFill>
              </a:rPr>
              <a:t>As a result, there is a growing need for intelligent tools that can assist in the preliminary screening of loan applicants.</a:t>
            </a:r>
            <a:endParaRPr b="1" i="1" sz="1550">
              <a:solidFill>
                <a:srgbClr val="564B36"/>
              </a:solidFill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7906750" y="2437725"/>
            <a:ext cx="126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Goal and Audience</a:t>
            </a:r>
            <a:endParaRPr sz="2400"/>
          </a:p>
        </p:txBody>
      </p:sp>
      <p:sp>
        <p:nvSpPr>
          <p:cNvPr id="292" name="Google Shape;292;p15"/>
          <p:cNvSpPr txBox="1"/>
          <p:nvPr>
            <p:ph idx="4294967295" type="title"/>
          </p:nvPr>
        </p:nvSpPr>
        <p:spPr>
          <a:xfrm>
            <a:off x="535775" y="1480150"/>
            <a:ext cx="5197200" cy="9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990"/>
              <a:buNone/>
            </a:pPr>
            <a:r>
              <a:rPr b="0" lang="en" sz="2020">
                <a:latin typeface="Lato"/>
                <a:ea typeface="Lato"/>
                <a:cs typeface="Lato"/>
                <a:sym typeface="Lato"/>
              </a:rPr>
              <a:t>The goal of this project is to build a predictor that can </a:t>
            </a:r>
            <a:r>
              <a:rPr i="1" lang="en" sz="2020" u="sng">
                <a:latin typeface="Lato"/>
                <a:ea typeface="Lato"/>
                <a:cs typeface="Lato"/>
                <a:sym typeface="Lato"/>
              </a:rPr>
              <a:t>classify</a:t>
            </a:r>
            <a:r>
              <a:rPr b="0" lang="en" sz="2020">
                <a:latin typeface="Lato"/>
                <a:ea typeface="Lato"/>
                <a:cs typeface="Lato"/>
                <a:sym typeface="Lato"/>
              </a:rPr>
              <a:t> loan approval status</a:t>
            </a:r>
            <a:endParaRPr b="0" sz="20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3720150" y="2571750"/>
            <a:ext cx="4912200" cy="1795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50">
                <a:solidFill>
                  <a:srgbClr val="564B36"/>
                </a:solidFill>
              </a:rPr>
              <a:t>Financial services companies could benefit from utilizing this predictor to</a:t>
            </a:r>
            <a:endParaRPr b="1" i="1" sz="1550">
              <a:solidFill>
                <a:srgbClr val="564B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50">
                <a:solidFill>
                  <a:srgbClr val="564B36"/>
                </a:solidFill>
              </a:rPr>
              <a:t>quickly screen applications and minimize applications that require in depth manual review</a:t>
            </a:r>
            <a:endParaRPr b="1" i="1" sz="1550">
              <a:solidFill>
                <a:srgbClr val="564B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50">
                <a:solidFill>
                  <a:srgbClr val="564B36"/>
                </a:solidFill>
              </a:rPr>
              <a:t>and approval.</a:t>
            </a:r>
            <a:endParaRPr b="1" i="1" sz="1550">
              <a:solidFill>
                <a:srgbClr val="564B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50">
              <a:solidFill>
                <a:srgbClr val="564B36"/>
              </a:solidFill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7906750" y="2437725"/>
            <a:ext cx="126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162725"/>
            <a:ext cx="85243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00" name="Google Shape;300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 txBox="1"/>
          <p:nvPr/>
        </p:nvSpPr>
        <p:spPr>
          <a:xfrm>
            <a:off x="1208125" y="6148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Data Source    </a:t>
            </a:r>
            <a:endParaRPr b="1" sz="3000">
              <a:solidFill>
                <a:schemeClr val="lt2"/>
              </a:solidFill>
              <a:highlight>
                <a:srgbClr val="38761D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2" name="Google Shape;302;p16"/>
          <p:cNvSpPr txBox="1"/>
          <p:nvPr>
            <p:ph idx="4294967295" type="body"/>
          </p:nvPr>
        </p:nvSpPr>
        <p:spPr>
          <a:xfrm>
            <a:off x="1139100" y="1377475"/>
            <a:ext cx="6642600" cy="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Existing data was sourced from Kaggle with 615 rows of historical loan application data. Our target variable for prediction is Loan_Status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03" name="Google Shape;3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738" y="2003925"/>
            <a:ext cx="7250524" cy="24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162725"/>
            <a:ext cx="85243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09" name="Google Shape;309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 txBox="1"/>
          <p:nvPr/>
        </p:nvSpPr>
        <p:spPr>
          <a:xfrm>
            <a:off x="1208125" y="6148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Data Exploration    </a:t>
            </a:r>
            <a:endParaRPr b="1" sz="3000">
              <a:solidFill>
                <a:schemeClr val="lt2"/>
              </a:solidFill>
              <a:highlight>
                <a:srgbClr val="38761D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311" name="Google Shape;311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7"/>
          <p:cNvSpPr txBox="1"/>
          <p:nvPr>
            <p:ph idx="4294967295" type="body"/>
          </p:nvPr>
        </p:nvSpPr>
        <p:spPr>
          <a:xfrm>
            <a:off x="1292750" y="1615225"/>
            <a:ext cx="5409000" cy="24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clean is the data?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Fortunately the data required minimal cleaning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balanced is our dataset?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 larger number of observations representing loan rejections (69%) than approvals (31%)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 we create new features that we deem important when predicting loan application status?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Additional features were engineered to better reflect financial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260849" y="213375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Anything glaring</a:t>
            </a:r>
            <a:r>
              <a:rPr lang="en"/>
              <a:t> about the data?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(Nothing initially)</a:t>
            </a:r>
            <a:endParaRPr b="0" sz="2400"/>
          </a:p>
        </p:txBody>
      </p:sp>
      <p:grpSp>
        <p:nvGrpSpPr>
          <p:cNvPr id="318" name="Google Shape;318;p18"/>
          <p:cNvGrpSpPr/>
          <p:nvPr/>
        </p:nvGrpSpPr>
        <p:grpSpPr>
          <a:xfrm>
            <a:off x="6781388" y="2464035"/>
            <a:ext cx="2212050" cy="2537076"/>
            <a:chOff x="6803275" y="395363"/>
            <a:chExt cx="2212050" cy="2537076"/>
          </a:xfrm>
        </p:grpSpPr>
        <p:pic>
          <p:nvPicPr>
            <p:cNvPr id="319" name="Google Shape;31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320" name="Google Shape;320;p18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8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Note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Due to the high imbalance, our target variable (Loan_Status) was stratified for modeling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322" name="Google Shape;3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25" y="1434175"/>
            <a:ext cx="4835226" cy="341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 txBox="1"/>
          <p:nvPr>
            <p:ph type="title"/>
          </p:nvPr>
        </p:nvSpPr>
        <p:spPr>
          <a:xfrm>
            <a:off x="256200" y="530775"/>
            <a:ext cx="86316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features are missing </a:t>
            </a:r>
            <a:r>
              <a:rPr lang="en">
                <a:solidFill>
                  <a:schemeClr val="accent5"/>
                </a:solidFill>
              </a:rPr>
              <a:t>based on limited real world experience?</a:t>
            </a:r>
            <a:endParaRPr>
              <a:solidFill>
                <a:schemeClr val="accent5"/>
              </a:solidFill>
            </a:endParaRPr>
          </a:p>
        </p:txBody>
      </p:sp>
      <p:grpSp>
        <p:nvGrpSpPr>
          <p:cNvPr id="328" name="Google Shape;328;p19"/>
          <p:cNvGrpSpPr/>
          <p:nvPr/>
        </p:nvGrpSpPr>
        <p:grpSpPr>
          <a:xfrm>
            <a:off x="6781388" y="2464029"/>
            <a:ext cx="2212050" cy="2537076"/>
            <a:chOff x="6803275" y="395363"/>
            <a:chExt cx="2212050" cy="2537076"/>
          </a:xfrm>
        </p:grpSpPr>
        <p:pic>
          <p:nvPicPr>
            <p:cNvPr id="329" name="Google Shape;32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ece of duct tape sticking a note to the slide" id="330" name="Google Shape;330;p19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19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Note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Some values were standardized (in the thousands) for easier initial data interpretation</a:t>
              </a:r>
              <a:endParaRPr b="1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332" name="Google Shape;332;p19"/>
          <p:cNvSpPr txBox="1"/>
          <p:nvPr>
            <p:ph idx="4294967295" type="body"/>
          </p:nvPr>
        </p:nvSpPr>
        <p:spPr>
          <a:xfrm>
            <a:off x="401050" y="2191975"/>
            <a:ext cx="5409000" cy="2046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Total Income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Applicant + Coapplicant Incomes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Monthly Payment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Full Loan Amount / Loan Amount Term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Debt To Income Ratio</a:t>
            </a:r>
            <a:br>
              <a:rPr lang="en" sz="14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Monthly Payment / Total Income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>
            <p:ph type="title"/>
          </p:nvPr>
        </p:nvSpPr>
        <p:spPr>
          <a:xfrm>
            <a:off x="260850" y="213375"/>
            <a:ext cx="8883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Dive into correlation</a:t>
            </a:r>
            <a:r>
              <a:rPr lang="en"/>
              <a:t> with new features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Credit_History 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shows strong 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correlation</a:t>
            </a:r>
            <a:endParaRPr b="0" sz="2400"/>
          </a:p>
        </p:txBody>
      </p:sp>
      <p:pic>
        <p:nvPicPr>
          <p:cNvPr id="338" name="Google Shape;3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950" y="965925"/>
            <a:ext cx="5315298" cy="36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 txBox="1"/>
          <p:nvPr>
            <p:ph type="title"/>
          </p:nvPr>
        </p:nvSpPr>
        <p:spPr>
          <a:xfrm>
            <a:off x="260700" y="122700"/>
            <a:ext cx="8883300" cy="12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Data</a:t>
            </a:r>
            <a:r>
              <a:rPr lang="en"/>
              <a:t> deep dive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(still with assumption Debt_To_Income ratio is a strong factor)</a:t>
            </a:r>
            <a:endParaRPr b="0" sz="2400"/>
          </a:p>
        </p:txBody>
      </p:sp>
      <p:sp>
        <p:nvSpPr>
          <p:cNvPr id="344" name="Google Shape;344;p21"/>
          <p:cNvSpPr txBox="1"/>
          <p:nvPr>
            <p:ph idx="4294967295" type="body"/>
          </p:nvPr>
        </p:nvSpPr>
        <p:spPr>
          <a:xfrm>
            <a:off x="355675" y="1351800"/>
            <a:ext cx="4437600" cy="2037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 anomaly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Record ID 498 showed: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Debt to income ratio &gt; 100%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No credit history (a strong correlation)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Loan was approved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Approved loans without credit history have debt to income ratio &lt; 11%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45" name="Google Shape;3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537" y="3534999"/>
            <a:ext cx="6908923" cy="14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5080425" y="2085750"/>
            <a:ext cx="3710700" cy="972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50">
                <a:solidFill>
                  <a:srgbClr val="564B36"/>
                </a:solidFill>
              </a:rPr>
              <a:t>Due to record 498 violating this patter, it was classified as bad data</a:t>
            </a:r>
            <a:endParaRPr b="1" i="1" sz="1550">
              <a:solidFill>
                <a:srgbClr val="564B3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50">
              <a:solidFill>
                <a:srgbClr val="564B3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162725"/>
            <a:ext cx="85243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52" name="Google Shape;352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2"/>
          <p:cNvSpPr txBox="1"/>
          <p:nvPr/>
        </p:nvSpPr>
        <p:spPr>
          <a:xfrm>
            <a:off x="1208125" y="614875"/>
            <a:ext cx="4250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Modeling Overview</a:t>
            </a: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   </a:t>
            </a:r>
            <a:endParaRPr b="1" sz="3000">
              <a:solidFill>
                <a:schemeClr val="lt2"/>
              </a:solidFill>
              <a:highlight>
                <a:srgbClr val="38761D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354" name="Google Shape;354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>
            <p:ph idx="4294967295" type="body"/>
          </p:nvPr>
        </p:nvSpPr>
        <p:spPr>
          <a:xfrm>
            <a:off x="1292750" y="1615225"/>
            <a:ext cx="5409000" cy="24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Dataset is imbalanced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Target variable was stratified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Binary Classification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1 for Approved and 0 for Rejected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Algorithms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Logistic Regression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Random Forest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Gradient Boosting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/>
          <p:nvPr>
            <p:ph idx="4294967295" type="body"/>
          </p:nvPr>
        </p:nvSpPr>
        <p:spPr>
          <a:xfrm>
            <a:off x="355675" y="986700"/>
            <a:ext cx="3364500" cy="158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GridSearchCV tuning: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9085" lvl="1" marL="914400" rtl="0" algn="l">
              <a:spcBef>
                <a:spcPts val="1000"/>
              </a:spcBef>
              <a:spcAft>
                <a:spcPts val="0"/>
              </a:spcAft>
              <a:buSzPct val="1000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 = 10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9085" lvl="1" marL="914400" rtl="0" algn="l">
              <a:spcBef>
                <a:spcPts val="1000"/>
              </a:spcBef>
              <a:spcAft>
                <a:spcPts val="0"/>
              </a:spcAft>
              <a:buSzPct val="1000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Penalty = ‘l1’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9085" lvl="1" marL="914400" rtl="0" algn="l">
              <a:spcBef>
                <a:spcPts val="1000"/>
              </a:spcBef>
              <a:spcAft>
                <a:spcPts val="0"/>
              </a:spcAft>
              <a:buSzPct val="1000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Solver = ‘liblibear’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9085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ct val="85714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Accuracy: 0.78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1" name="Google Shape;361;p23"/>
          <p:cNvSpPr txBox="1"/>
          <p:nvPr>
            <p:ph type="title"/>
          </p:nvPr>
        </p:nvSpPr>
        <p:spPr>
          <a:xfrm>
            <a:off x="260700" y="122700"/>
            <a:ext cx="88833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5"/>
                </a:solidFill>
              </a:rPr>
              <a:t>Logistic</a:t>
            </a:r>
            <a:r>
              <a:rPr lang="en"/>
              <a:t> regression</a:t>
            </a:r>
            <a:endParaRPr b="0" sz="2400"/>
          </a:p>
        </p:txBody>
      </p:sp>
      <p:pic>
        <p:nvPicPr>
          <p:cNvPr id="362" name="Google Shape;3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575" y="986700"/>
            <a:ext cx="5119024" cy="1826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913" y="2709200"/>
            <a:ext cx="2998027" cy="22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/>
          <p:nvPr>
            <p:ph idx="4294967295" type="body"/>
          </p:nvPr>
        </p:nvSpPr>
        <p:spPr>
          <a:xfrm>
            <a:off x="355675" y="986700"/>
            <a:ext cx="3364500" cy="997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Accuracy: 0.826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F1-score: 0.817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69" name="Google Shape;369;p24"/>
          <p:cNvSpPr txBox="1"/>
          <p:nvPr>
            <p:ph type="title"/>
          </p:nvPr>
        </p:nvSpPr>
        <p:spPr>
          <a:xfrm>
            <a:off x="260700" y="122700"/>
            <a:ext cx="88833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5"/>
                </a:solidFill>
              </a:rPr>
              <a:t>Random</a:t>
            </a:r>
            <a:r>
              <a:rPr lang="en"/>
              <a:t> forest</a:t>
            </a:r>
            <a:endParaRPr b="0" sz="2400"/>
          </a:p>
        </p:txBody>
      </p:sp>
      <p:pic>
        <p:nvPicPr>
          <p:cNvPr id="370" name="Google Shape;3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550" y="986700"/>
            <a:ext cx="5186874" cy="191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00" y="2289298"/>
            <a:ext cx="3479874" cy="255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idx="4294967295" type="body"/>
          </p:nvPr>
        </p:nvSpPr>
        <p:spPr>
          <a:xfrm>
            <a:off x="355675" y="986700"/>
            <a:ext cx="3364500" cy="604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Accuracy: 0.82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7" name="Google Shape;377;p25"/>
          <p:cNvSpPr txBox="1"/>
          <p:nvPr>
            <p:ph type="title"/>
          </p:nvPr>
        </p:nvSpPr>
        <p:spPr>
          <a:xfrm>
            <a:off x="260700" y="122700"/>
            <a:ext cx="88833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5"/>
                </a:solidFill>
              </a:rPr>
              <a:t>Gradient</a:t>
            </a:r>
            <a:r>
              <a:rPr lang="en"/>
              <a:t> boosting</a:t>
            </a:r>
            <a:endParaRPr b="0" sz="2400"/>
          </a:p>
        </p:txBody>
      </p:sp>
      <p:pic>
        <p:nvPicPr>
          <p:cNvPr id="378" name="Google Shape;3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699" y="986700"/>
            <a:ext cx="5119024" cy="193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43600"/>
            <a:ext cx="3582900" cy="29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162725"/>
            <a:ext cx="85243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85" name="Google Shape;385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6"/>
          <p:cNvSpPr txBox="1"/>
          <p:nvPr/>
        </p:nvSpPr>
        <p:spPr>
          <a:xfrm>
            <a:off x="1208125" y="614875"/>
            <a:ext cx="4250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Results</a:t>
            </a: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   </a:t>
            </a:r>
            <a:endParaRPr b="1" sz="3000">
              <a:solidFill>
                <a:schemeClr val="lt2"/>
              </a:solidFill>
              <a:highlight>
                <a:srgbClr val="38761D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387" name="Google Shape;387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300" y="1377475"/>
            <a:ext cx="7436776" cy="18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6"/>
          <p:cNvSpPr txBox="1"/>
          <p:nvPr/>
        </p:nvSpPr>
        <p:spPr>
          <a:xfrm>
            <a:off x="1208125" y="3400675"/>
            <a:ext cx="61848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64B36"/>
                </a:solidFill>
              </a:rPr>
              <a:t>The Random Forest model produced the best performance and demonstrated the strongest ability to classify loan approval outcomes.</a:t>
            </a:r>
            <a:endParaRPr sz="1450">
              <a:solidFill>
                <a:srgbClr val="564B3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" y="162725"/>
            <a:ext cx="85243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95" name="Google Shape;395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 txBox="1"/>
          <p:nvPr/>
        </p:nvSpPr>
        <p:spPr>
          <a:xfrm>
            <a:off x="1208125" y="614875"/>
            <a:ext cx="4250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38761D"/>
                </a:highlight>
                <a:latin typeface="Raleway"/>
                <a:ea typeface="Raleway"/>
                <a:cs typeface="Raleway"/>
                <a:sym typeface="Raleway"/>
              </a:rPr>
              <a:t>Future Improvements</a:t>
            </a:r>
            <a:endParaRPr b="1" sz="3000">
              <a:solidFill>
                <a:schemeClr val="lt2"/>
              </a:solidFill>
              <a:highlight>
                <a:srgbClr val="38761D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397" name="Google Shape;397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 txBox="1"/>
          <p:nvPr>
            <p:ph idx="4294967295" type="body"/>
          </p:nvPr>
        </p:nvSpPr>
        <p:spPr>
          <a:xfrm>
            <a:off x="1292750" y="1615225"/>
            <a:ext cx="6719700" cy="24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Larger and more diverse datasets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Apply SMOTE or other techniques to address class imbalance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Perform feature importance analysis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en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  <a:endParaRPr b="1" sz="1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Deploy the model as a web application for real-time predictions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◆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Incorporate additional financial indicators such as credit score or employment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stability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